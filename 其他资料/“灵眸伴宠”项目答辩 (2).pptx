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2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尊敬的各位评委老师，下午好。我是答辩人张承熠，我的毕业设计项目是“灵眸伴宠”——一款基于STM32的自主伴随式宠物机器人。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随着社会老龄化和独居人群的增加，宠物陪伴的需求日益增长。本项目旨在解决宠物独自在家时的孤独问题，通过技术手段提供一种低成本、高可靠的主动陪伴解决方案。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接下来，我将从项目背景、研究内容、技术路线等几个方面进行详细阐述。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答辩将围绕八个核心部分展开。首先，我会介绍项目的研究背景与意义，阐述我们为什么要做这个项目。其次，分析国内外的研究现状，明确我们的切入点。接着，详细说明我们的研究目标、主要内容以及具体的研究方案和技术路线。之后，我会剖析项目的重点难点与创新之处，并展示我们已经取得的前期研究成果。最后，对项目的预期成果、进度安排进行说明，并对整个项目进行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项目背景。随着社会结构的变化，越来越多的独居青年和上班族选择养宠来获得情感慰藉。然而，当主人外出工作时，宠物往往面临长时间的孤独，这不仅影响它们的身心健康，也成为主人的一大牵挂。目前市场上的宠物智能产品，大多停留在远程喂食、视频监控等被动服务层面，无法提供主动的、动态的陪伴。这正是我们项目的切入点，我们希望通过技术手段，填补这一市场空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研究意义体现在三个层面。在应用价值上，它直接解决了宠物陪伴的刚需，能有效缓解宠物的孤独感，提升养宠体验。在学术价值上，我们探索了在STM32这种低算力平台上实现多传感器融合和自主跟随的技术路径，为类似项目提供了可复用的方案。在育人价值上，项目涵盖了嵌入式开发、算法设计等多个核心知识点，能够极大地锻炼我们的工程实践能力和创新思维，实现产教融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一下国内外的研究现状。国外以亚马逊Astro为代表的产品，技术非常成熟，但价格昂贵，系统封闭，且存在隐私担忧。而国内的研究则更偏向于低成本的嵌入式方案，但大多功能单一，缺乏真正的自主伴随能力，在动态跟踪和抗干扰方面存在明显短板。总结来看，在提升跟随鲁棒性、降低成本和保障隐私安全方面，仍有巨大的技术优化和应用空间，这正是我们项目的机会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基于以上背景，我们设立了明确的研究目标和内容。我们的总体目标是开发一款低成本、高可靠、易部署的自主伴随机器人。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实现这一目标，我们的核心研究内容包括四个方面：首先是设计基于STM32的硬件系统；其次是实现核心的自主伴随算法；再次是构建稳定的软件架构和交互系统；最后是通过系统集成和实际测试来不断优化我们的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我将对核心研究内容做进一步说明。在硬件方面，我们以STM32作为主控核心，集成了摄像头、红外、超声波等多种传感器，并设计了运动执行、电源管理和交互模块，构成一个完整的硬件平台。在算法方面，我们的重点是实现多传感器数据融合，通过PID控制器实现精确的速度和距离控制，并融入动态避障算法，确保机器人在复杂环境下的安全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接下来是我们的研究方案与技术路线。我们采用的是STM32嵌入式平台结合多传感器融合的技术路线。整个系统遵循“感知-决策-执行”的闭环控制逻辑。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感知层通过各种传感器获取宠物和环境信息；然后，主控单元进行数据融合和决策；接着，驱动执行机构完成跟随和避障动作；同时，通过轻量化交互提升用户体验；最后，我们会通过多场景的实际测试来不断迭代优化算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整体架构流程图。如图所示，整个系统分为硬件层、软件层和应用层。硬件层是基础，包括传感器、执行器和主控模块。软件层是核心，负责数据处理、算法实现和逻辑控制。应用层则面向用户，提供自主伴随、智能避障和声光交互等功能。通过这样的分层设计，我们实现了系统的高内聚、低耦合，便于开发和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软件架构方面，我们采用了清晰的分层设计。底层是驱动层，负责与硬件交互；中间是算法层，实现核心的智能逻辑；上层是应用层，直接面向用户提供功能。此外，我们还设计了系统管理模块，负责全局调度和状态监控，确保整个系统能够稳定、可靠地运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推进过程中，我们明确了几个重点和难点。重点在于实现多传感器数据融合、高精度的自主跟随以及低功耗的稳定运行。而难点则主要集中在三个方面：一是如何在复杂环境下持续稳定地跟踪目标；二是如何在STM32有限的算力下，平衡好算法复杂度和系统实时性；三是如何实现平滑的运动控制，提升用户体验。这些都是我们需要攻克的关键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创新之处主要体现在三个方面。首先是场景创新，我们将“自主伴随”作为核心功能，实现了主动陪伴，这区别于市场上大多数被动式的宠物产品。其次是技术创新，我们构建了基于STM32的轻量级系统，通过优化算法实现了低成本和高稳定性，并且支持本地化运行，解决了隐私问题。最后是体验创新，我们设计了拟人化的声光交互，让机器人的陪伴更加自然和有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项目正式开展之前，我们已经完成了一系列前期工作。我们系统学习了相关理论知识，并通过实验训练打下了坚实的实践基础。我们成功搭建了机器人硬件平台，并验证了基础功能。同时，我们对核心算法进行了深入的调研和仿真验证。基于这些工作，我们形成了详细的系统方案和测试计划，为项目的顺利推进做好了充分准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项目的预期成果，我们希望最终能交付一套完整的硬件原型和软件系统，并形成一份详尽的研究报告。如果研究深度足够，我们也会考虑撰写学术论文或申请专利。目前，项目正处于第二阶段，即核心算法开发与软硬件联调阶段。接下来，我们将进入系统集成测试与优化阶段，最后完成研究报告的撰写。整个进度安排清晰，步骤明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项目进行总结与展望。本项目通过STM32平台和多传感器融合技术，致力于解决宠物陪伴的痛点，具有明确的应用、学术和育人价值。展望未来，我们希望能进一步拓展机器人的交互能力，比如加入语音识别等功能，并探索其在更多服务场景中的应用潜力，让技术更好地服务于生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我的答辩到此结束。感谢各位评委老师的耐心聆听，恳请各位老师批评指正。谢谢大家！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0.svg"/><Relationship Id="rId20" Type="http://schemas.openxmlformats.org/officeDocument/2006/relationships/notesSlide" Target="../notesSlides/notesSlide5.xml"/><Relationship Id="rId2" Type="http://schemas.openxmlformats.org/officeDocument/2006/relationships/image" Target="../media/image9.pn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28.svg"/><Relationship Id="rId17" Type="http://schemas.openxmlformats.org/officeDocument/2006/relationships/image" Target="../media/image27.png"/><Relationship Id="rId16" Type="http://schemas.openxmlformats.org/officeDocument/2006/relationships/image" Target="../media/image26.svg"/><Relationship Id="rId15" Type="http://schemas.openxmlformats.org/officeDocument/2006/relationships/image" Target="../media/image25.png"/><Relationship Id="rId14" Type="http://schemas.openxmlformats.org/officeDocument/2006/relationships/image" Target="../media/image24.svg"/><Relationship Id="rId13" Type="http://schemas.openxmlformats.org/officeDocument/2006/relationships/image" Target="../media/image2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22.jpe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jpeg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12.sv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26.svg"/><Relationship Id="rId14" Type="http://schemas.openxmlformats.org/officeDocument/2006/relationships/image" Target="../media/image25.png"/><Relationship Id="rId13" Type="http://schemas.openxmlformats.org/officeDocument/2006/relationships/image" Target="../media/image42.svg"/><Relationship Id="rId12" Type="http://schemas.openxmlformats.org/officeDocument/2006/relationships/image" Target="../media/image41.png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image" Target="../media/image36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svg"/><Relationship Id="rId7" Type="http://schemas.openxmlformats.org/officeDocument/2006/relationships/image" Target="../media/image4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0.svg"/><Relationship Id="rId1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55.svg"/><Relationship Id="rId7" Type="http://schemas.openxmlformats.org/officeDocument/2006/relationships/image" Target="../media/image54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12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0.sv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61.svg"/><Relationship Id="rId7" Type="http://schemas.openxmlformats.org/officeDocument/2006/relationships/image" Target="../media/image60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0.svg"/><Relationship Id="rId11" Type="http://schemas.openxmlformats.org/officeDocument/2006/relationships/image" Target="../media/image39.png"/><Relationship Id="rId10" Type="http://schemas.openxmlformats.org/officeDocument/2006/relationships/image" Target="../media/image46.svg"/><Relationship Id="rId1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9.svg"/><Relationship Id="rId7" Type="http://schemas.openxmlformats.org/officeDocument/2006/relationships/image" Target="../media/image68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67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75.svg"/><Relationship Id="rId7" Type="http://schemas.openxmlformats.org/officeDocument/2006/relationships/image" Target="../media/image74.png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14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80.jpe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77.svg"/><Relationship Id="rId1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“灵眸伴宠”——自主伴随式宠物机器人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28575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30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基于STM32的低成本高可靠解决方案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0" y="4953000"/>
            <a:ext cx="4572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0" y="5207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答辩人：张承熠 | 指导老师：胡雯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571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2026年4月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92200" y="171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032000" y="167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研究背景与意义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05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项目背景：解决宠物陪伴的刚需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研究意义：应用、学术与育人价值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92200" y="298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294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国内外研究现状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332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国外现状：技术成熟，但成本高昂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国内现状：功能单一，用户体验不佳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6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92200" y="425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421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研究目标与主要内容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32000" y="459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总体目标：低成本、高可靠自主伴随机器人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核心内容：硬件选型、算法设计与系统集成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1092200" y="552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32000" y="548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研究方案与技术路线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032000" y="586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技术路线：STM32主控 + 多传感器融合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核心架构：感知层 / 决策层 / 执行层闭环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52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23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53200" y="171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493000" y="167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重点难点与创新之处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93000" y="205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重点难点：精准定位与复杂环境下的避障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项目创新：轻量化设计与低成本传感器方案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279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23000" y="279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553200" y="298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493000" y="294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前期研究成果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493000" y="332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理论储备：掌握PID控制与SLAM基础算法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平台验证：完成基础移动底盘与传感器调试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06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223000" y="406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553200" y="425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493000" y="421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预期成果与进度安排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493000" y="459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预期成果：实物样机、学术论文与软件著作权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进度规划：分阶段实施，确保按期完成验收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23000" y="5334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223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AutoShape 40"/>
          <p:cNvSpPr/>
          <p:nvPr/>
        </p:nvSpPr>
        <p:spPr>
          <a:xfrm>
            <a:off x="6553200" y="552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7493000" y="54864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7493000" y="5867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项目总结：回顾核心技术指标与完成情况</a:t>
            </a:r>
            <a:b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未来展望：向更智能化、商业化的方向迭代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研究背景：宠物陪伴的巨大需求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l="15748" r="15748"/>
          <a:stretch>
            <a:fillRect/>
          </a:stretch>
        </p:blipFill>
        <p:spPr>
          <a:xfrm>
            <a:off x="762000" y="1524000"/>
            <a:ext cx="4826000" cy="4699000"/>
          </a:xfrm>
          <a:prstGeom prst="roundRect">
            <a:avLst>
              <a:gd name="adj" fmla="val 4324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5969000" y="1524000"/>
            <a:ext cx="5461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969000" y="1524000"/>
            <a:ext cx="76200" cy="1397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9200" y="1778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061200" y="17145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社会趋势：情感陪伴的刚需化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061200" y="2159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独居青年、上班族及银发群体构成养宠主力，宠物在家庭中已从“动物”转变为核心的情感陪伴角色。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3175000"/>
            <a:ext cx="5461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5969000" y="3175000"/>
            <a:ext cx="76200" cy="1397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9200" y="3429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61200" y="33655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核心痛点：独处时的身心健康危机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061200" y="3810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主人外出工作期间，宠物长期处于孤独状态，面临缺乏运动、无人互动的问题，极易引发焦虑等行为异常。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0" y="4826000"/>
            <a:ext cx="5461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969000" y="4826000"/>
            <a:ext cx="76200" cy="1397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9200" y="5080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61200" y="50165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市场空白：主动陪伴能力的缺失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061200" y="5461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现有智能硬件多聚焦于远程投喂、视频监控等“被动响应”功能，缺乏具备主动性、动态交互的陪伴解决方案。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研究意义：多维度价值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006600" y="19050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9800" y="2108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2857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429000"/>
            <a:ext cx="2540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683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79500" y="3810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解决刚需 · 自主伴随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4127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提供低成本、高可靠的自主伴随机器人，实现动态跟随、主动避障和轻量交互。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953000"/>
            <a:ext cx="2921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79500" y="5080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提升体验 · 情感关怀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79500" y="53975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有效缓解宠物孤独感，显著提升现代家庭养宠的便捷性与幸福感。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445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689600" y="19050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2800" y="2108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445000" y="2857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学术价值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826000" y="3429000"/>
            <a:ext cx="2540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635500" y="3683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762500" y="3810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技术探索 · 硬件融合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62500" y="4127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构建基于STM32主控和多传感器融合的小型化自主跟随系统，探索低算力平台的高效实现。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635500" y="4953000"/>
            <a:ext cx="2921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762500" y="5080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算法优化 · 路径规划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762500" y="53975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研究并优化轻量级目标锁定、动态路径规划与鲁棒控制算法，为同类研究提供参考。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128000" y="1651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372600" y="1905000"/>
            <a:ext cx="812800" cy="8128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5800" y="21082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128000" y="2857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育人价值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509000" y="3429000"/>
            <a:ext cx="2540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318500" y="3683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445500" y="3810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能力培养 · 核心训练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445500" y="4127500"/>
            <a:ext cx="266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全覆盖嵌入式开发、传感器数据融合、运动控制、算法优化等工程核心能力的实战训练。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318500" y="4953000"/>
            <a:ext cx="2921000" cy="1016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8445500" y="5080000"/>
            <a:ext cx="2667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产教融合 · 思维创新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445500" y="53975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强化本科生工程实践与创新思维，紧密对接产业技术需求，实现理论与实践的深度结合。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国内外研究现状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4354" b="4354"/>
          <a:stretch>
            <a:fillRect/>
          </a:stretch>
        </p:blipFill>
        <p:spPr>
          <a:xfrm>
            <a:off x="1016000" y="1651000"/>
            <a:ext cx="4699000" cy="2413000"/>
          </a:xfrm>
          <a:prstGeom prst="roundRect">
            <a:avLst>
              <a:gd name="adj" fmla="val 421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国外研究现状 · 技术成熟但门槛高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F0F9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4864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4762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代表产品：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Amazon Astro, iRobot 等 | 技术成熟，系统稳定性强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5461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5588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5524500"/>
            <a:ext cx="95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成本高昂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难以大规模普及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16200" y="5461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43200" y="5588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060700" y="5524500"/>
            <a:ext cx="95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系统封闭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本地化部署困难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216400" y="5461000"/>
            <a:ext cx="14986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43400" y="55880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660900" y="5524500"/>
            <a:ext cx="95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隐私担忧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数据过度依赖云端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397000"/>
            <a:ext cx="5207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24324" b="24324"/>
          <a:stretch>
            <a:fillRect/>
          </a:stretch>
        </p:blipFill>
        <p:spPr>
          <a:xfrm>
            <a:off x="6477000" y="1651000"/>
            <a:ext cx="4699000" cy="2413000"/>
          </a:xfrm>
          <a:prstGeom prst="roundRect">
            <a:avLst>
              <a:gd name="adj" fmla="val 421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477000" y="4191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国内研究现状 · 低成本但功能受限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699000"/>
            <a:ext cx="4699000" cy="635000"/>
          </a:xfrm>
          <a:prstGeom prst="roundRect">
            <a:avLst>
              <a:gd name="adj" fmla="val 16000"/>
            </a:avLst>
          </a:prstGeom>
          <a:solidFill>
            <a:srgbClr val="F0F9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4864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4762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发展方向：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低成本嵌入式方案 | 集中于投喂、监控等单一功能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5461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55880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21500" y="5524500"/>
            <a:ext cx="95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自主伴随弱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动态目标锁定难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77200" y="5461000"/>
            <a:ext cx="14732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04200" y="55880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521700" y="5524500"/>
            <a:ext cx="95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抗干扰差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多依赖单一传感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9677400" y="5461000"/>
            <a:ext cx="1498600" cy="889000"/>
          </a:xfrm>
          <a:prstGeom prst="roundRect">
            <a:avLst>
              <a:gd name="adj" fmla="val 11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804400" y="5588000"/>
            <a:ext cx="254000" cy="254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121900" y="5524500"/>
            <a:ext cx="95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续航不足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9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难以满足长陪伴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研究目标与主要内容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1600" cy="1397000"/>
          </a:xfrm>
          <a:prstGeom prst="roundRect">
            <a:avLst>
              <a:gd name="adj" fmla="val 15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1587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总体目标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79500" y="2032000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以宠物自主陪伴为核心，开发基于STM32的</a:t>
            </a:r>
            <a:r>
              <a:rPr lang="en-US" sz="1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低成本、高可靠、易部署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自主伴随机器人，实现动态跟随、主动避障与轻量化交互。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2540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238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238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1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搭建以STM32为主控的小型化、低功耗嵌入式硬件平台。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56000" y="3048000"/>
            <a:ext cx="2540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6500" y="323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318000" y="3238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自主伴随算法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746500" y="381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完成目标锁定、距离检测、动态避障与最优路径规划。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826000"/>
            <a:ext cx="2540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016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016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软件与交互系统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5588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构建模块化分层架构，实现用户与机器人的轻量化交互。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556000" y="4826000"/>
            <a:ext cx="2540000" cy="158750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6500" y="501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318000" y="5016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集成与实测优化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746500" y="5588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完成软硬件全系统联调，进行多场景实测与参数迭代。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1397000"/>
            <a:ext cx="4826000" cy="50165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/>
          <a:srcRect l="2000" r="2000"/>
          <a:stretch>
            <a:fillRect/>
          </a:stretch>
        </p:blipFill>
        <p:spPr>
          <a:xfrm>
            <a:off x="6477000" y="1524000"/>
            <a:ext cx="4572000" cy="47625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核心研究内容详解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810000" cy="4826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1905000"/>
            <a:ext cx="3302000" cy="3302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016000" y="5461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核心主控芯片 · STM32F103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524000"/>
            <a:ext cx="66040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826000" y="1524000"/>
            <a:ext cx="76200" cy="2286000"/>
          </a:xfrm>
          <a:prstGeom prst="roundRect">
            <a:avLst>
              <a:gd name="adj" fmla="val 266666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207000" y="1714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硬件系统设计 Hardware System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7000" y="2286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715000" y="228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主控单元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STM32核心调度，负责算法逻辑运行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3000" y="2286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001000" y="2286000"/>
            <a:ext cx="165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感知模块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集成视觉、红外、超声波多维传感器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7000" y="3175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715000" y="3175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运动执行模块：</a:t>
            </a: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驱动电机与舵机精准动作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28000" y="3175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636000" y="3175000"/>
            <a:ext cx="228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电源与交互：</a:t>
            </a: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稳定供电与声光状态反馈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826000" y="4191000"/>
            <a:ext cx="6604000" cy="21590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826000" y="4191000"/>
            <a:ext cx="76200" cy="2159000"/>
          </a:xfrm>
          <a:prstGeom prst="roundRect">
            <a:avLst>
              <a:gd name="adj" fmla="val 266666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5207000" y="438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自主伴随算法 Algorithm Implementation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07000" y="501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715000" y="5016500"/>
            <a:ext cx="165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多源数据融合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目标识别与方位距离解算，消除噪声干扰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429500" y="5016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937500" y="50165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PID闭环控制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实时修正误差，实现速度与距离的精确跟随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5000" y="5016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033000" y="5016500"/>
            <a:ext cx="127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动态避障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局部路径规划，确保复杂环境运行安全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研究方案与技术路线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oundRect">
            <a:avLst>
              <a:gd name="adj" fmla="val 1714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254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52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总体技术路线：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STM32嵌入式平台 + 多传感器融合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的核心架构，构建“感知-决策-执行”的全闭环智能控制系统。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2540000"/>
            <a:ext cx="2032000" cy="279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19200" y="2794000"/>
            <a:ext cx="863600" cy="863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2400" y="29972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35000" y="3810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4318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信息感知层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826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多传感器协同</a:t>
            </a:r>
            <a:b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获取目标与环境数据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94000" y="2540000"/>
            <a:ext cx="2032000" cy="279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378200" y="2794000"/>
            <a:ext cx="863600" cy="863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400" y="29972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794000" y="3810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794000" y="4318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融合决策层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921000" y="4826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主控单元进行</a:t>
            </a:r>
            <a:b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数据融合与路径规划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53000" y="2540000"/>
            <a:ext cx="2032000" cy="279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5537200" y="2794000"/>
            <a:ext cx="863600" cy="863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40400" y="29972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953000" y="3810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953000" y="4318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驱动执行层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80000" y="4826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执行机构动作</a:t>
            </a:r>
            <a:b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实现动态跟随与避障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2540000"/>
            <a:ext cx="2032000" cy="279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96200" y="2794000"/>
            <a:ext cx="863600" cy="863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99400" y="29972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112000" y="3810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112000" y="4318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交互体验层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239000" y="4826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轻量化UI交互</a:t>
            </a:r>
            <a:b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提升用户操作便捷性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271000" y="2540000"/>
            <a:ext cx="2032000" cy="2794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9855200" y="2794000"/>
            <a:ext cx="863600" cy="863600"/>
          </a:xfrm>
          <a:prstGeom prst="ellipse">
            <a:avLst/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058400" y="2997200"/>
            <a:ext cx="457200" cy="457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9271000" y="3810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9271000" y="4318000"/>
            <a:ext cx="203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测试迭代层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398000" y="4826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多场景实地测试</a:t>
            </a:r>
            <a:b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持续优化算法性能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91840" y="2794318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4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</a:rPr>
              <a:t>04 </a:t>
            </a:r>
            <a:r>
              <a:rPr lang="zh-CN" altLang="en-US" sz="4000" b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</a:rPr>
              <a:t>系统架构流程图</a:t>
            </a:r>
            <a:endParaRPr lang="zh-CN" altLang="en-US" sz="4000" b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f6d79c8b86fe64bf9a1e9343ed975b0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4140"/>
            <a:ext cx="12192000" cy="6649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软件架构与交互系统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668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分层架构设计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66800" y="2413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0800" y="2667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26035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驱动层 · Hardware Driver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032000" y="29845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负责各类传感器与执行器的底层驱动，采集环境原始数据，建立硬件与系统的通信桥梁。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37465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0800" y="4000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39370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算法层 · Core Logic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4318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系统的核心大脑，集成目标识别、动态跟踪、路径规划与智能避障算法，处理驱动层输入数据。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66800" y="5080000"/>
            <a:ext cx="45974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20800" y="5334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5270500"/>
            <a:ext cx="342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应用层 · User Service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56515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直接面向用户的功能集合，提供自主伴随、智能避障、声光交互等核心业务场景的实现。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5278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系统中枢管理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27800" y="2413000"/>
            <a:ext cx="4597400" cy="1651000"/>
          </a:xfrm>
          <a:prstGeom prst="roundRect">
            <a:avLst>
              <a:gd name="adj" fmla="val 615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1800" y="27940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620000" y="26670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全局任务调度中心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0" y="3111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基于优先级的多任务协调机制，统筹驱动、算法、应用三层模块的运行时序，确保资源的高效分配与并发处理。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527800" y="4318000"/>
            <a:ext cx="4597400" cy="1651000"/>
          </a:xfrm>
          <a:prstGeom prst="roundRect">
            <a:avLst>
              <a:gd name="adj" fmla="val 615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81800" y="4699000"/>
            <a:ext cx="635000" cy="635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620000" y="4572000"/>
            <a:ext cx="330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全链路状态监控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0" y="5016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实时监测系统供电电压、硬件故障码及用户交互状态，构建故障自动恢复机制，保障系统全天候稳定运行。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重点难点与创新之处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795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项目重点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79500" y="2413000"/>
            <a:ext cx="635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79500" y="2794000"/>
            <a:ext cx="4572000" cy="1079500"/>
          </a:xfrm>
          <a:prstGeom prst="roundRect">
            <a:avLst>
              <a:gd name="adj" fmla="val 14117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33500" y="3048000"/>
            <a:ext cx="558800" cy="558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95500" y="2946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多传感器数据融合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95500" y="3302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基于STM32芯片架构，实现多传感器异构数据的实时融合与目标快速锁定。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" y="4000500"/>
            <a:ext cx="4572000" cy="1079500"/>
          </a:xfrm>
          <a:prstGeom prst="roundRect">
            <a:avLst>
              <a:gd name="adj" fmla="val 14117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4254500"/>
            <a:ext cx="558800" cy="558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095500" y="41529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高精度自主跟随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095500" y="4508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针对动态复杂环境，优化算法逻辑，实现厘米级的跟随精度与毫秒级的安全避障响应。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" y="5207000"/>
            <a:ext cx="4572000" cy="1016000"/>
          </a:xfrm>
          <a:prstGeom prst="roundRect">
            <a:avLst>
              <a:gd name="adj" fmla="val 15000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3500" y="546100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095500" y="5359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低功耗稳定运行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095500" y="5715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在硬件小型化约束下，完成电源管理优化，达成长续航与系统7x24小时的稳定运行。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5405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项目难点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540500" y="2413000"/>
            <a:ext cx="635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540500" y="2794000"/>
            <a:ext cx="4572000" cy="1079500"/>
          </a:xfrm>
          <a:prstGeom prst="roundRect">
            <a:avLst>
              <a:gd name="adj" fmla="val 1411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0" y="3048000"/>
            <a:ext cx="558800" cy="558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556500" y="2946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复杂环境目标持续跟踪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556500" y="3302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在弱光、物体遮挡、背景纹理复杂等极端场景下，解决目标丢失问题，实现持续稳定的跟踪。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540500" y="4000500"/>
            <a:ext cx="4572000" cy="1079500"/>
          </a:xfrm>
          <a:prstGeom prst="roundRect">
            <a:avLst>
              <a:gd name="adj" fmla="val 14117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94500" y="4254500"/>
            <a:ext cx="558800" cy="558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556500" y="41529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算力与实时性的动态平衡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7556500" y="45085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在STM32有限的算力资源下，通过算法剪枝与任务调度，平衡算法识别精度与系统实时响应速度。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40500" y="5207000"/>
            <a:ext cx="4572000" cy="1016000"/>
          </a:xfrm>
          <a:prstGeom prst="roundRect">
            <a:avLst>
              <a:gd name="adj" fmla="val 15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4500" y="5461000"/>
            <a:ext cx="558800" cy="558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556500" y="5359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运动控制的平滑与防抖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556500" y="57150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设计滤波算法有效抑制电机与传感器噪声，优化PID参数，实现流畅、无抖动的机械运动控制。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项目创新之处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4445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006600" y="203200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9800" y="22352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3048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场景创新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2794000" cy="635000"/>
          </a:xfrm>
          <a:prstGeom prst="roundRect">
            <a:avLst>
              <a:gd name="adj" fmla="val 16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3683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核心功能：自主伴随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区别于传统投喂、监控类宠物硬件，实现主动跟随、动态陪伴、实时避障一体化，打造全新的智能陪伴场景。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651000"/>
            <a:ext cx="3302000" cy="4445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689600" y="203200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2800" y="2235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99000" y="3048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技术创新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683000"/>
            <a:ext cx="2794000" cy="635000"/>
          </a:xfrm>
          <a:prstGeom prst="roundRect">
            <a:avLst>
              <a:gd name="adj" fmla="val 16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826000" y="3683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架构：STM32 + 多传感器融合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构建轻量级系统，优化数据融合与闭环控制算法。硬件高度集成成本可控，支持本地化运行，有效保障隐私安全。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651000"/>
            <a:ext cx="3302000" cy="4445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72600" y="2032000"/>
            <a:ext cx="812800" cy="8128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75800" y="22352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382000" y="3048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体验创新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82000" y="3683000"/>
            <a:ext cx="2794000" cy="635000"/>
          </a:xfrm>
          <a:prstGeom prst="roundRect">
            <a:avLst>
              <a:gd name="adj" fmla="val 16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509000" y="3683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交互：拟人化声光 + 自适应跟随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4572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5757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支持自适应跟随距离，兼顾陪伴效果与宠物活动空间。融入拟人化状态反馈，让机器互动更具“温度”与自然感。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前期研究成果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778000"/>
            <a:ext cx="558800" cy="558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55800" y="18288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理论与实践基础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55800" y="2413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完成STM32嵌入式系统、传感器驱动、电机控制等相关课程学习与实验训练，具备扎实的理论与实践基础。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778000"/>
            <a:ext cx="558800" cy="558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16800" y="18288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平台搭建与验证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416800" y="2413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已完成小型移动机器人平台的搭建，并成功实现红外/超声波测距、基础避障、蓝牙遥控等功能验证。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191000"/>
            <a:ext cx="558800" cy="558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55800" y="42418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算法调研与仿真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955800" y="4826000"/>
            <a:ext cx="368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已完成自主跟随算法的文献调研与方案论证，并对目标检测、距离解算、PID速度控制等核心模块进行了仿真与初步验证。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76200" cy="2159000"/>
          </a:xfrm>
          <a:prstGeom prst="roundRect">
            <a:avLst>
              <a:gd name="adj" fmla="val 20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0" y="4191000"/>
            <a:ext cx="558800" cy="558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416800" y="42418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方案设计与规划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16800" y="4826000"/>
            <a:ext cx="368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已完成硬件选型与整体框架设计，形成了详细的系统方案与测试计划，为后续项目推进提供完整指导。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预期成果与进度安排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预期研究成果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413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06500" y="26035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8100" y="2705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2540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硬件平台原型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28702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一套完整的自主伴随式宠物机器人硬件原型，具备核心感知能力。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206500" y="36195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08100" y="3721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3556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嵌入式软件系统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905000" y="38862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集成传感器驱动、数据融合、运动控制与交互逻辑的完整软件栈。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445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206500" y="46355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8100" y="4737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905000" y="4572000"/>
            <a:ext cx="3683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项目研究报告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905000" y="49022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包含详细技术方案、关键实验数据记录及最终性能分析结论。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016000" y="5461000"/>
            <a:ext cx="4699000" cy="762000"/>
          </a:xfrm>
          <a:prstGeom prst="roundRect">
            <a:avLst>
              <a:gd name="adj" fmla="val 2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1206500" y="55880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8100" y="5689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905000" y="55626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学术论文/发明专利 (可选)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基于研究深度，产出高水平学术论文或申请核心发明专利。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421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77000" y="1778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项目进度规划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413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667500" y="2603500"/>
            <a:ext cx="889000" cy="508000"/>
          </a:xfrm>
          <a:prstGeom prst="roundRect">
            <a:avLst>
              <a:gd name="adj" fmla="val 2000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67500" y="2705100"/>
            <a:ext cx="88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7747000" y="2540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第一阶段：基础构建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747000" y="28702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完成核心理论学习、总体方案设计及机器人硬件平台的基础搭建。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477000" y="3429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6667500" y="3619500"/>
            <a:ext cx="889000" cy="508000"/>
          </a:xfrm>
          <a:prstGeom prst="roundRect">
            <a:avLst>
              <a:gd name="adj" fmla="val 2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667500" y="3721100"/>
            <a:ext cx="88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进行中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747000" y="3556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第二阶段：核心开发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747000" y="38862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重点攻关SLAM等核心算法开发，并开展软硬件联调与功能验证。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77000" y="4445000"/>
            <a:ext cx="4699000" cy="889000"/>
          </a:xfrm>
          <a:prstGeom prst="roundRect">
            <a:avLst>
              <a:gd name="adj" fmla="val 17142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667500" y="4635500"/>
            <a:ext cx="889000" cy="508000"/>
          </a:xfrm>
          <a:prstGeom prst="roundRect">
            <a:avLst>
              <a:gd name="adj" fmla="val 2000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667500" y="4737100"/>
            <a:ext cx="88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下一阶段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747000" y="4572000"/>
            <a:ext cx="330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第三阶段：集成优化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747000" y="49022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开展全系统集成测试，针对运行问题进行迭代优化与性能提升。</a:t>
            </a:r>
            <a:endParaRPr lang="en-US" sz="1100"/>
          </a:p>
        </p:txBody>
      </p:sp>
      <p:sp>
        <p:nvSpPr>
          <p:cNvPr id="41" name="AutoShape 41"/>
          <p:cNvSpPr/>
          <p:nvPr/>
        </p:nvSpPr>
        <p:spPr>
          <a:xfrm>
            <a:off x="6477000" y="5461000"/>
            <a:ext cx="4699000" cy="762000"/>
          </a:xfrm>
          <a:prstGeom prst="roundRect">
            <a:avLst>
              <a:gd name="adj" fmla="val 2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6667500" y="5588000"/>
            <a:ext cx="889000" cy="508000"/>
          </a:xfrm>
          <a:prstGeom prst="roundRect">
            <a:avLst>
              <a:gd name="adj" fmla="val 20000"/>
            </a:avLst>
          </a:prstGeom>
          <a:solidFill>
            <a:srgbClr val="9CA3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3"/>
          <p:cNvSpPr/>
          <p:nvPr/>
        </p:nvSpPr>
        <p:spPr>
          <a:xfrm>
            <a:off x="6667500" y="5689600"/>
            <a:ext cx="88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最终阶段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7747000" y="55626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第四阶段：总结验收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0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撰写完整的项目研究报告，整理成果并进行最终答辩验收。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总结与展望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1778000"/>
            <a:ext cx="711200" cy="711200"/>
          </a:xfrm>
          <a:prstGeom prst="roundRect">
            <a:avLst>
              <a:gd name="adj" fmla="val 28571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9200" y="19812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1841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项目总结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032000" y="2413000"/>
            <a:ext cx="355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本项目致力于开发低成本、高可靠的自主伴随式宠物机器人。基于</a:t>
            </a:r>
            <a:r>
              <a:rPr lang="en-US" sz="1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STM32嵌入式平台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</a:t>
            </a:r>
            <a:r>
              <a:rPr lang="en-US" sz="1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多传感器融合技术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，有效解决现有产品痛点，具备显著的应用、学术与育人价值。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4191000"/>
            <a:ext cx="711200" cy="711200"/>
          </a:xfrm>
          <a:prstGeom prst="roundRect">
            <a:avLst>
              <a:gd name="adj" fmla="val 28571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4394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4254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032000" y="4826000"/>
            <a:ext cx="355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后续将重点拓展机器人的交互能力，增加语音指令识别、情感状态识别等功能模块，并持续探索其在智慧养老、儿童陪伴等更多服务场景中的应用潜力。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524000"/>
            <a:ext cx="4953000" cy="4445000"/>
          </a:xfrm>
          <a:prstGeom prst="roundRect">
            <a:avLst>
              <a:gd name="adj" fmla="val 457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76200" dir="2700000" algn="tl" rotWithShape="0">
              <a:srgbClr val="000000">
                <a:alpha val="12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 t="20326" b="20326"/>
          <a:stretch>
            <a:fillRect/>
          </a:stretch>
        </p:blipFill>
        <p:spPr>
          <a:xfrm>
            <a:off x="6413500" y="1714500"/>
            <a:ext cx="4572000" cy="4064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-6858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b="1"/>
          </a:p>
        </p:txBody>
      </p:sp>
      <p:sp>
        <p:nvSpPr>
          <p:cNvPr id="3" name="AutoShape 3"/>
          <p:cNvSpPr/>
          <p:nvPr/>
        </p:nvSpPr>
        <p:spPr>
          <a:xfrm>
            <a:off x="0" y="2159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556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600"/>
              <a:t>敬请各位评委老师批评指正</a:t>
            </a:r>
            <a:endParaRPr lang="zh-CN" altLang="en-US" sz="3600"/>
          </a:p>
        </p:txBody>
      </p:sp>
      <p:sp>
        <p:nvSpPr>
          <p:cNvPr id="6" name="AutoShape 6"/>
          <p:cNvSpPr/>
          <p:nvPr/>
        </p:nvSpPr>
        <p:spPr>
          <a:xfrm>
            <a:off x="0" y="5080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3375</Words>
  <Application>WPS 演示</Application>
  <PresentationFormat/>
  <Paragraphs>358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ꫛꫀꪝ</cp:lastModifiedBy>
  <cp:revision>3</cp:revision>
  <dcterms:created xsi:type="dcterms:W3CDTF">2026-04-20T05:17:00Z</dcterms:created>
  <dcterms:modified xsi:type="dcterms:W3CDTF">2026-04-20T09:34:48Z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C0E9A312F3984F7BA8434EC237EC719D_13</vt:lpwstr>
  </property>
</Properties>
</file>